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2"/>
    </p:embeddedFont>
    <p:embeddedFont>
      <p:font typeface="Montserrat Bold" panose="00000800000000000000" charset="0"/>
      <p:regular r:id="rId13"/>
    </p:embeddedFont>
    <p:embeddedFont>
      <p:font typeface="Montserrat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r="-333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411815" y="6585624"/>
            <a:ext cx="12114058" cy="0"/>
          </a:xfrm>
          <a:prstGeom prst="line">
            <a:avLst/>
          </a:prstGeom>
          <a:ln w="666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11815" y="3438902"/>
            <a:ext cx="13983875" cy="249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69"/>
              </a:lnSpc>
            </a:pPr>
            <a:r>
              <a:rPr lang="en-US" sz="14621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BookMyShoot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10046389"/>
            <a:ext cx="2754552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J.Digevan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11815" y="6067921"/>
            <a:ext cx="10316541" cy="34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056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seamless platform connecting clients with top-rated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4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7692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419567" y="3247075"/>
            <a:ext cx="5263488" cy="5019824"/>
          </a:xfrm>
          <a:custGeom>
            <a:avLst/>
            <a:gdLst/>
            <a:ahLst/>
            <a:cxnLst/>
            <a:rect l="l" t="t" r="r" b="b"/>
            <a:pathLst>
              <a:path w="3394609" h="3394609">
                <a:moveTo>
                  <a:pt x="0" y="0"/>
                </a:moveTo>
                <a:lnTo>
                  <a:pt x="3394609" y="0"/>
                </a:lnTo>
                <a:lnTo>
                  <a:pt x="3394609" y="3394608"/>
                </a:lnTo>
                <a:lnTo>
                  <a:pt x="0" y="339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71235" y="1511115"/>
            <a:ext cx="9568716" cy="213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0"/>
              </a:lnSpc>
            </a:pPr>
            <a:r>
              <a:rPr lang="en-US" sz="12478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71235" y="4123965"/>
            <a:ext cx="9568716" cy="78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  <a:spcBef>
                <a:spcPct val="0"/>
              </a:spcBef>
            </a:pPr>
            <a:r>
              <a:rPr lang="en-US" sz="2285" dirty="0">
                <a:solidFill>
                  <a:srgbClr val="FFDE59"/>
                </a:solidFill>
                <a:latin typeface="Montserrat"/>
                <a:ea typeface="Montserrat"/>
                <a:cs typeface="Montserrat"/>
                <a:sym typeface="Montserrat"/>
              </a:rPr>
              <a:t>Finding reliable and professional photographers/videographers for events is time-consuming and fragmented.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1396" y="5587145"/>
            <a:ext cx="4501784" cy="102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5"/>
              </a:lnSpc>
              <a:spcBef>
                <a:spcPct val="0"/>
              </a:spcBef>
            </a:pPr>
            <a:r>
              <a:rPr lang="en-US" sz="194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Lack of transparency and trust in existing platforms (social media, outdated directories).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235" y="7928999"/>
            <a:ext cx="4284375" cy="7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5"/>
              </a:lnSpc>
              <a:spcBef>
                <a:spcPct val="0"/>
              </a:spcBef>
            </a:pPr>
            <a:r>
              <a:rPr lang="en-US" sz="20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Difficulty in comparing prices, reviews, and portfolios.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55593" y="6626697"/>
            <a:ext cx="4544897" cy="102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5"/>
              </a:lnSpc>
              <a:spcBef>
                <a:spcPct val="0"/>
              </a:spcBef>
            </a:pPr>
            <a:r>
              <a:rPr lang="en-US" sz="1946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Professionals struggle to get consistent visibility and grow their business.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89080537-B7C7-CBB6-142F-D9F982005AAC}"/>
              </a:ext>
            </a:extLst>
          </p:cNvPr>
          <p:cNvSpPr/>
          <p:nvPr/>
        </p:nvSpPr>
        <p:spPr>
          <a:xfrm>
            <a:off x="1411815" y="6585624"/>
            <a:ext cx="12114058" cy="0"/>
          </a:xfrm>
          <a:prstGeom prst="line">
            <a:avLst/>
          </a:prstGeom>
          <a:ln w="666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0" y="2358833"/>
            <a:ext cx="8061749" cy="320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A comprehensive, user-friendly platform to discover, compare, and book photo and video professionals.</a:t>
            </a:r>
          </a:p>
          <a:p>
            <a:pPr marL="212570" lvl="1"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Centralized platform for browsing verified portfolios, pricing, reviews, and availability.</a:t>
            </a:r>
          </a:p>
          <a:p>
            <a:pPr marL="212570" lvl="1"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Real-time booking, secure payments, and seamless communication.</a:t>
            </a:r>
          </a:p>
          <a:p>
            <a:pPr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5621000" y="5359689"/>
            <a:ext cx="8132648" cy="14288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51123" y="4119285"/>
            <a:ext cx="5013154" cy="4531559"/>
          </a:xfrm>
          <a:custGeom>
            <a:avLst/>
            <a:gdLst/>
            <a:ahLst/>
            <a:cxnLst/>
            <a:rect l="l" t="t" r="r" b="b"/>
            <a:pathLst>
              <a:path w="5013154" h="4531559">
                <a:moveTo>
                  <a:pt x="0" y="0"/>
                </a:moveTo>
                <a:lnTo>
                  <a:pt x="5013154" y="0"/>
                </a:lnTo>
                <a:lnTo>
                  <a:pt x="5013154" y="4531559"/>
                </a:lnTo>
                <a:lnTo>
                  <a:pt x="0" y="4531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6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51123" y="1574649"/>
            <a:ext cx="6744515" cy="167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01"/>
              </a:lnSpc>
            </a:pPr>
            <a:r>
              <a:rPr lang="en-US" sz="9786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97551" y="1433005"/>
            <a:ext cx="5847230" cy="53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3148" b="1" dirty="0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What is BookMyShoot?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97551" y="5431044"/>
            <a:ext cx="5847230" cy="53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3148" b="1" dirty="0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Key Features: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97551" y="6255925"/>
            <a:ext cx="8061749" cy="356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Centralized discovery platform for all photography and videography needs.</a:t>
            </a:r>
          </a:p>
          <a:p>
            <a:pPr marL="212570" lvl="1"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Instant booking system with integrated payments.</a:t>
            </a:r>
          </a:p>
          <a:p>
            <a:pPr marL="212570" lvl="1"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Profile boosting for professionals.</a:t>
            </a:r>
          </a:p>
          <a:p>
            <a:pPr marL="212570" lvl="1"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5140" lvl="1" indent="-212570" algn="l">
              <a:lnSpc>
                <a:spcPts val="2756"/>
              </a:lnSpc>
              <a:buFont typeface="Arial"/>
              <a:buChar char="•"/>
            </a:pPr>
            <a:r>
              <a:rPr lang="en-US" sz="196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Analytics tools for service providers to track performance and growth.</a:t>
            </a:r>
          </a:p>
          <a:p>
            <a:pPr algn="l">
              <a:lnSpc>
                <a:spcPts val="2756"/>
              </a:lnSpc>
            </a:pPr>
            <a:endParaRPr lang="en-US" sz="1969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11841" y="1216986"/>
            <a:ext cx="3962468" cy="384656"/>
            <a:chOff x="0" y="0"/>
            <a:chExt cx="1634010" cy="1586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4010" cy="158621"/>
            </a:xfrm>
            <a:custGeom>
              <a:avLst/>
              <a:gdLst/>
              <a:ahLst/>
              <a:cxnLst/>
              <a:rect l="l" t="t" r="r" b="b"/>
              <a:pathLst>
                <a:path w="1634010" h="158621">
                  <a:moveTo>
                    <a:pt x="0" y="0"/>
                  </a:moveTo>
                  <a:lnTo>
                    <a:pt x="1634010" y="0"/>
                  </a:lnTo>
                  <a:lnTo>
                    <a:pt x="1634010" y="158621"/>
                  </a:lnTo>
                  <a:lnTo>
                    <a:pt x="0" y="158621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511841" y="6529003"/>
            <a:ext cx="6957076" cy="199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Individuals and businesses looking for event photography/videography.</a:t>
            </a:r>
          </a:p>
          <a:p>
            <a:pPr algn="l">
              <a:lnSpc>
                <a:spcPts val="2657"/>
              </a:lnSpc>
            </a:pPr>
            <a:endParaRPr lang="en-US" sz="1897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657"/>
              </a:lnSpc>
            </a:pPr>
            <a:r>
              <a:rPr lang="en-US" sz="18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Freelance photographers/videographers and studios looking for more visibility and consistent work.</a:t>
            </a:r>
          </a:p>
          <a:p>
            <a:pPr algn="l">
              <a:lnSpc>
                <a:spcPts val="2657"/>
              </a:lnSpc>
            </a:pPr>
            <a:endParaRPr lang="en-US" sz="1897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3030200" y="8801100"/>
            <a:ext cx="8043513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466711" y="3447529"/>
            <a:ext cx="2371154" cy="4114800"/>
          </a:xfrm>
          <a:custGeom>
            <a:avLst/>
            <a:gdLst/>
            <a:ahLst/>
            <a:cxnLst/>
            <a:rect l="l" t="t" r="r" b="b"/>
            <a:pathLst>
              <a:path w="2371154" h="4114800">
                <a:moveTo>
                  <a:pt x="0" y="0"/>
                </a:moveTo>
                <a:lnTo>
                  <a:pt x="2371153" y="0"/>
                </a:lnTo>
                <a:lnTo>
                  <a:pt x="23711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195268" y="3906773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7" y="0"/>
                </a:lnTo>
                <a:lnTo>
                  <a:pt x="256717" y="366739"/>
                </a:lnTo>
                <a:lnTo>
                  <a:pt x="0" y="366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33863" y="1208654"/>
            <a:ext cx="8401901" cy="101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6"/>
              </a:lnSpc>
            </a:pPr>
            <a:r>
              <a:rPr lang="en-US" sz="5990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Opportunity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11841" y="1936553"/>
            <a:ext cx="6747459" cy="990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The global photography and videography industry is booming, especially in the events, weddings, and content creation sectors.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69497" y="1185146"/>
            <a:ext cx="3561406" cy="38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221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Growing 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11841" y="4235412"/>
            <a:ext cx="6747459" cy="65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8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Trends show increasing demand for digital-first platforms in service industries.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1841" y="3556757"/>
            <a:ext cx="4389494" cy="60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9"/>
              </a:lnSpc>
            </a:pPr>
            <a:r>
              <a:rPr lang="en-US" sz="3506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Size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1841" y="5389349"/>
            <a:ext cx="4389494" cy="60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9"/>
              </a:lnSpc>
            </a:pPr>
            <a:r>
              <a:rPr lang="en-US" sz="3506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Audience</a:t>
            </a:r>
          </a:p>
        </p:txBody>
      </p:sp>
      <p:sp>
        <p:nvSpPr>
          <p:cNvPr id="15" name="Freeform 15"/>
          <p:cNvSpPr/>
          <p:nvPr/>
        </p:nvSpPr>
        <p:spPr>
          <a:xfrm>
            <a:off x="3810146" y="4637900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7" y="0"/>
                </a:lnTo>
                <a:lnTo>
                  <a:pt x="256717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778096" y="5004638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7" y="0"/>
                </a:lnTo>
                <a:lnTo>
                  <a:pt x="256717" y="366739"/>
                </a:lnTo>
                <a:lnTo>
                  <a:pt x="0" y="3667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810146" y="5821828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7" y="0"/>
                </a:lnTo>
                <a:lnTo>
                  <a:pt x="256717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4906455" y="6065957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6" y="0"/>
                </a:lnTo>
                <a:lnTo>
                  <a:pt x="256716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4395571" y="5455090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7" y="0"/>
                </a:lnTo>
                <a:lnTo>
                  <a:pt x="256717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4138854" y="6552150"/>
            <a:ext cx="256717" cy="366738"/>
          </a:xfrm>
          <a:custGeom>
            <a:avLst/>
            <a:gdLst/>
            <a:ahLst/>
            <a:cxnLst/>
            <a:rect l="l" t="t" r="r" b="b"/>
            <a:pathLst>
              <a:path w="256717" h="366738">
                <a:moveTo>
                  <a:pt x="0" y="0"/>
                </a:moveTo>
                <a:lnTo>
                  <a:pt x="256717" y="0"/>
                </a:lnTo>
                <a:lnTo>
                  <a:pt x="256717" y="366738"/>
                </a:lnTo>
                <a:lnTo>
                  <a:pt x="0" y="366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38636" y="2598212"/>
            <a:ext cx="5692209" cy="807137"/>
            <a:chOff x="0" y="0"/>
            <a:chExt cx="3208308" cy="454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08307" cy="454928"/>
            </a:xfrm>
            <a:custGeom>
              <a:avLst/>
              <a:gdLst/>
              <a:ahLst/>
              <a:cxnLst/>
              <a:rect l="l" t="t" r="r" b="b"/>
              <a:pathLst>
                <a:path w="3208307" h="454928">
                  <a:moveTo>
                    <a:pt x="0" y="0"/>
                  </a:moveTo>
                  <a:lnTo>
                    <a:pt x="3208307" y="0"/>
                  </a:lnTo>
                  <a:lnTo>
                    <a:pt x="3208307" y="454928"/>
                  </a:lnTo>
                  <a:lnTo>
                    <a:pt x="0" y="454928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424537" y="3441231"/>
            <a:ext cx="7692097" cy="2637504"/>
          </a:xfrm>
          <a:custGeom>
            <a:avLst/>
            <a:gdLst/>
            <a:ahLst/>
            <a:cxnLst/>
            <a:rect l="l" t="t" r="r" b="b"/>
            <a:pathLst>
              <a:path w="7692097" h="2637504">
                <a:moveTo>
                  <a:pt x="0" y="0"/>
                </a:moveTo>
                <a:lnTo>
                  <a:pt x="7692097" y="0"/>
                </a:lnTo>
                <a:lnTo>
                  <a:pt x="7692097" y="2637503"/>
                </a:lnTo>
                <a:lnTo>
                  <a:pt x="0" y="263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153" b="-471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371235" y="1336018"/>
            <a:ext cx="9830946" cy="126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18"/>
              </a:lnSpc>
            </a:pPr>
            <a:r>
              <a:rPr lang="en-US" sz="7370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38636" y="3961183"/>
            <a:ext cx="7866971" cy="5168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292" lvl="1" indent="-210646" algn="l">
              <a:lnSpc>
                <a:spcPts val="2731"/>
              </a:lnSpc>
              <a:spcBef>
                <a:spcPct val="0"/>
              </a:spcBef>
              <a:buFont typeface="Arial"/>
              <a:buChar char="•"/>
            </a:pPr>
            <a:r>
              <a:rPr lang="en-US" sz="1951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Commissions on Bookings: A fixed percentage on successful bookings.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  <a:endParaRPr lang="en-US" sz="1951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1292" lvl="1" indent="-210646" algn="l">
              <a:lnSpc>
                <a:spcPts val="2731"/>
              </a:lnSpc>
              <a:spcBef>
                <a:spcPct val="0"/>
              </a:spcBef>
              <a:buFont typeface="Arial"/>
              <a:buChar char="•"/>
            </a:pPr>
            <a:r>
              <a:rPr lang="en-US" sz="1951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Premium Listings &amp; Promotions: Paid visibility for professionals.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  <a:endParaRPr lang="en-US" sz="1951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1292" lvl="1" indent="-210646" algn="l">
              <a:lnSpc>
                <a:spcPts val="2731"/>
              </a:lnSpc>
              <a:spcBef>
                <a:spcPct val="0"/>
              </a:spcBef>
              <a:buFont typeface="Arial"/>
              <a:buChar char="•"/>
            </a:pPr>
            <a:r>
              <a:rPr lang="en-US" sz="1951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Subscription Plans: For professionals, Term based (monthly/annual) plans.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  <a:endParaRPr lang="en-US" sz="1951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1292" lvl="1" indent="-210646" algn="l">
              <a:lnSpc>
                <a:spcPts val="2731"/>
              </a:lnSpc>
              <a:spcBef>
                <a:spcPct val="0"/>
              </a:spcBef>
              <a:buFont typeface="Arial"/>
              <a:buChar char="•"/>
            </a:pPr>
            <a:r>
              <a:rPr lang="en-US" sz="1951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In-app Advertising: Ads for relevant products/services like camera gear, event venues, etc.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  <a:endParaRPr lang="en-US" sz="1951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21292" lvl="1" indent="-210646" algn="l">
              <a:lnSpc>
                <a:spcPts val="2731"/>
              </a:lnSpc>
              <a:spcBef>
                <a:spcPct val="0"/>
              </a:spcBef>
              <a:buFont typeface="Arial"/>
              <a:buChar char="•"/>
            </a:pPr>
            <a:r>
              <a:rPr lang="en-US" sz="1951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Add-On Services: Revenue from post-processing, contract templates, AR-guided shoots.</a:t>
            </a:r>
          </a:p>
          <a:p>
            <a:pPr algn="l">
              <a:lnSpc>
                <a:spcPts val="2731"/>
              </a:lnSpc>
              <a:spcBef>
                <a:spcPct val="0"/>
              </a:spcBef>
            </a:pPr>
            <a:endParaRPr lang="en-US" sz="1951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29473" y="2736582"/>
            <a:ext cx="5510534" cy="47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4"/>
              </a:lnSpc>
            </a:pPr>
            <a:r>
              <a:rPr lang="en-US" sz="2745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Revenue Streams</a:t>
            </a:r>
          </a:p>
        </p:txBody>
      </p:sp>
      <p:sp>
        <p:nvSpPr>
          <p:cNvPr id="8" name="AutoShape 8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542628" y="8589533"/>
            <a:ext cx="5510534" cy="45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4"/>
              </a:lnSpc>
            </a:pPr>
            <a:r>
              <a:rPr lang="en-US" sz="2745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Pricing Str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868729"/>
            <a:ext cx="5663032" cy="1161055"/>
            <a:chOff x="0" y="0"/>
            <a:chExt cx="5085379" cy="10426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5379" cy="1042622"/>
            </a:xfrm>
            <a:custGeom>
              <a:avLst/>
              <a:gdLst/>
              <a:ahLst/>
              <a:cxnLst/>
              <a:rect l="l" t="t" r="r" b="b"/>
              <a:pathLst>
                <a:path w="5085379" h="1042622">
                  <a:moveTo>
                    <a:pt x="0" y="0"/>
                  </a:moveTo>
                  <a:lnTo>
                    <a:pt x="5085379" y="0"/>
                  </a:lnTo>
                  <a:lnTo>
                    <a:pt x="5085379" y="1042622"/>
                  </a:lnTo>
                  <a:lnTo>
                    <a:pt x="0" y="1042622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1716742" y="5216055"/>
            <a:ext cx="5663032" cy="1161055"/>
            <a:chOff x="0" y="0"/>
            <a:chExt cx="5085379" cy="10426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85379" cy="1042622"/>
            </a:xfrm>
            <a:custGeom>
              <a:avLst/>
              <a:gdLst/>
              <a:ahLst/>
              <a:cxnLst/>
              <a:rect l="l" t="t" r="r" b="b"/>
              <a:pathLst>
                <a:path w="5085379" h="1042622">
                  <a:moveTo>
                    <a:pt x="0" y="0"/>
                  </a:moveTo>
                  <a:lnTo>
                    <a:pt x="5085379" y="0"/>
                  </a:lnTo>
                  <a:lnTo>
                    <a:pt x="5085379" y="1042622"/>
                  </a:lnTo>
                  <a:lnTo>
                    <a:pt x="0" y="1042622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5065223" y="2595599"/>
            <a:ext cx="2291633" cy="2546259"/>
          </a:xfrm>
          <a:custGeom>
            <a:avLst/>
            <a:gdLst/>
            <a:ahLst/>
            <a:cxnLst/>
            <a:rect l="l" t="t" r="r" b="b"/>
            <a:pathLst>
              <a:path w="2291633" h="2546259">
                <a:moveTo>
                  <a:pt x="0" y="0"/>
                </a:moveTo>
                <a:lnTo>
                  <a:pt x="2291633" y="0"/>
                </a:lnTo>
                <a:lnTo>
                  <a:pt x="2291633" y="2546258"/>
                </a:lnTo>
                <a:lnTo>
                  <a:pt x="0" y="2546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659756"/>
            <a:ext cx="9842757" cy="23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04"/>
              </a:lnSpc>
            </a:pPr>
            <a:r>
              <a:rPr lang="en-US" sz="6717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Go-to-Market Strategy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18451" y="4184300"/>
            <a:ext cx="3883530" cy="47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76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Marketing Approach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187480"/>
            <a:ext cx="8115300" cy="395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6826" lvl="1" indent="-223413" algn="l">
              <a:lnSpc>
                <a:spcPts val="2897"/>
              </a:lnSpc>
              <a:spcBef>
                <a:spcPct val="0"/>
              </a:spcBef>
              <a:buFont typeface="Arial"/>
              <a:buChar char="•"/>
            </a:pPr>
            <a:r>
              <a:rPr lang="en-US" sz="20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Digital Marketing: SEO, social media advertising, and influencer marketing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endParaRPr lang="en-US" sz="2069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6826" lvl="1" indent="-223413" algn="l">
              <a:lnSpc>
                <a:spcPts val="2897"/>
              </a:lnSpc>
              <a:spcBef>
                <a:spcPct val="0"/>
              </a:spcBef>
              <a:buFont typeface="Arial"/>
              <a:buChar char="•"/>
            </a:pPr>
            <a:r>
              <a:rPr lang="en-US" sz="20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Partnerships: Collaborations with event planners, venues, and wedding vendors.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endParaRPr lang="en-US" sz="2069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6826" lvl="1" indent="-223413" algn="l">
              <a:lnSpc>
                <a:spcPts val="2897"/>
              </a:lnSpc>
              <a:spcBef>
                <a:spcPct val="0"/>
              </a:spcBef>
              <a:buFont typeface="Arial"/>
              <a:buChar char="•"/>
            </a:pPr>
            <a:r>
              <a:rPr lang="en-US" sz="20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Referral Programs: For both clients and service providers.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endParaRPr lang="en-US" sz="2069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6826" lvl="1" indent="-223413" algn="l">
              <a:lnSpc>
                <a:spcPts val="2897"/>
              </a:lnSpc>
              <a:spcBef>
                <a:spcPct val="0"/>
              </a:spcBef>
              <a:buFont typeface="Arial"/>
              <a:buChar char="•"/>
            </a:pPr>
            <a:r>
              <a:rPr lang="en-US" sz="20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Word-of-Mouth: Leverage early adopter feedback for organic growth.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endParaRPr lang="en-US" sz="2069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606493" y="5531627"/>
            <a:ext cx="3883530" cy="47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76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Sales Strategy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16742" y="6948610"/>
            <a:ext cx="5663032" cy="28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6826" lvl="1" indent="-223413" algn="l">
              <a:lnSpc>
                <a:spcPts val="2897"/>
              </a:lnSpc>
              <a:spcBef>
                <a:spcPct val="0"/>
              </a:spcBef>
              <a:buFont typeface="Arial"/>
              <a:buChar char="•"/>
            </a:pPr>
            <a:r>
              <a:rPr lang="en-US" sz="20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Target urban and high-demand event markets (e.g., weddings, corporate events).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endParaRPr lang="en-US" sz="2069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6826" lvl="1" indent="-223413" algn="l">
              <a:lnSpc>
                <a:spcPts val="2897"/>
              </a:lnSpc>
              <a:spcBef>
                <a:spcPct val="0"/>
              </a:spcBef>
              <a:buFont typeface="Arial"/>
              <a:buChar char="•"/>
            </a:pPr>
            <a:r>
              <a:rPr lang="en-US" sz="20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Focus on onboarding high-quality professionals initially to build trust and credibility.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endParaRPr lang="en-US" sz="2069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2261" y="4372569"/>
            <a:ext cx="4885731" cy="488573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051984" y="5436014"/>
            <a:ext cx="5521016" cy="339564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904699" y="1163498"/>
            <a:ext cx="4813914" cy="4813914"/>
          </a:xfrm>
          <a:custGeom>
            <a:avLst/>
            <a:gdLst/>
            <a:ahLst/>
            <a:cxnLst/>
            <a:rect l="l" t="t" r="r" b="b"/>
            <a:pathLst>
              <a:path w="4813914" h="4813914">
                <a:moveTo>
                  <a:pt x="0" y="0"/>
                </a:moveTo>
                <a:lnTo>
                  <a:pt x="4813915" y="0"/>
                </a:lnTo>
                <a:lnTo>
                  <a:pt x="4813915" y="4813915"/>
                </a:lnTo>
                <a:lnTo>
                  <a:pt x="0" y="4813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68039" y="1881209"/>
            <a:ext cx="6500607" cy="168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&amp; Development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13346" y="4812958"/>
            <a:ext cx="4243562" cy="37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Platform Development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039" y="5397914"/>
            <a:ext cx="4909953" cy="397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r>
              <a:rPr lang="en-US" sz="172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Mobile App (iOS &amp; Android) for consumers to browse and book services.</a:t>
            </a: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r>
              <a:rPr lang="en-US" sz="172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Web Platform for service providers to manage profiles, bookings, and payments.</a:t>
            </a: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2418"/>
              </a:lnSpc>
            </a:pPr>
            <a:endParaRPr lang="en-US" sz="172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52104" y="6555454"/>
            <a:ext cx="4663695" cy="1794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Plans to scale across cities and introduce new features (e.g., AI-based recommendations, multi-language support).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0162" y="5977412"/>
            <a:ext cx="2993883" cy="30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5"/>
              </a:lnSpc>
            </a:pPr>
            <a:r>
              <a:rPr lang="en-US" sz="32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Scalability</a:t>
            </a:r>
            <a:endParaRPr lang="en-US" sz="1503" b="1" dirty="0">
              <a:solidFill>
                <a:srgbClr val="FFFFF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52630" y="1824916"/>
            <a:ext cx="6230191" cy="590175"/>
            <a:chOff x="0" y="0"/>
            <a:chExt cx="5576106" cy="528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76105" cy="528215"/>
            </a:xfrm>
            <a:custGeom>
              <a:avLst/>
              <a:gdLst/>
              <a:ahLst/>
              <a:cxnLst/>
              <a:rect l="l" t="t" r="r" b="b"/>
              <a:pathLst>
                <a:path w="5576105" h="528215">
                  <a:moveTo>
                    <a:pt x="0" y="0"/>
                  </a:moveTo>
                  <a:lnTo>
                    <a:pt x="5576105" y="0"/>
                  </a:lnTo>
                  <a:lnTo>
                    <a:pt x="5576105" y="528215"/>
                  </a:lnTo>
                  <a:lnTo>
                    <a:pt x="0" y="528215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679314" y="1324984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9352630" y="5719632"/>
            <a:ext cx="6230191" cy="590175"/>
            <a:chOff x="0" y="0"/>
            <a:chExt cx="5576106" cy="528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76105" cy="528215"/>
            </a:xfrm>
            <a:custGeom>
              <a:avLst/>
              <a:gdLst/>
              <a:ahLst/>
              <a:cxnLst/>
              <a:rect l="l" t="t" r="r" b="b"/>
              <a:pathLst>
                <a:path w="5576105" h="528215">
                  <a:moveTo>
                    <a:pt x="0" y="0"/>
                  </a:moveTo>
                  <a:lnTo>
                    <a:pt x="5576105" y="0"/>
                  </a:lnTo>
                  <a:lnTo>
                    <a:pt x="5576105" y="528215"/>
                  </a:lnTo>
                  <a:lnTo>
                    <a:pt x="0" y="528215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676400" y="3339388"/>
            <a:ext cx="4010060" cy="4114800"/>
          </a:xfrm>
          <a:custGeom>
            <a:avLst/>
            <a:gdLst/>
            <a:ahLst/>
            <a:cxnLst/>
            <a:rect l="l" t="t" r="r" b="b"/>
            <a:pathLst>
              <a:path w="4010060" h="4114800">
                <a:moveTo>
                  <a:pt x="0" y="0"/>
                </a:moveTo>
                <a:lnTo>
                  <a:pt x="4010060" y="0"/>
                </a:lnTo>
                <a:lnTo>
                  <a:pt x="4010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79314" y="224325"/>
            <a:ext cx="11996798" cy="102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8"/>
              </a:lnSpc>
            </a:pPr>
            <a:r>
              <a:rPr lang="en-US" sz="5984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Projections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7303" y="1935719"/>
            <a:ext cx="5244609" cy="41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Revenue Growth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52630" y="2653216"/>
            <a:ext cx="7906670" cy="274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5" lvl="1" indent="-205102" algn="l">
              <a:lnSpc>
                <a:spcPts val="2659"/>
              </a:lnSpc>
              <a:buFont typeface="Arial"/>
              <a:buChar char="•"/>
            </a:pPr>
            <a:r>
              <a:rPr lang="en-US" sz="1899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 1: revenue from commissions and subscriptions.</a:t>
            </a:r>
          </a:p>
          <a:p>
            <a:pPr algn="l">
              <a:lnSpc>
                <a:spcPts val="2659"/>
              </a:lnSpc>
            </a:pPr>
            <a:endParaRPr lang="en-US" sz="1899" b="1" dirty="0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10205" lvl="1" indent="-205102" algn="l">
              <a:lnSpc>
                <a:spcPts val="2659"/>
              </a:lnSpc>
              <a:buFont typeface="Arial"/>
              <a:buChar char="•"/>
            </a:pPr>
            <a:r>
              <a:rPr lang="en-US" sz="1899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Year 2: Expected growth of 50% in bookings and subscriptions.</a:t>
            </a:r>
          </a:p>
          <a:p>
            <a:pPr algn="l">
              <a:lnSpc>
                <a:spcPts val="2659"/>
              </a:lnSpc>
            </a:pPr>
            <a:endParaRPr lang="en-US" sz="1899" b="1" dirty="0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10205" lvl="1" indent="-205102" algn="l">
              <a:lnSpc>
                <a:spcPts val="2659"/>
              </a:lnSpc>
              <a:buFont typeface="Arial"/>
              <a:buChar char="•"/>
            </a:pPr>
            <a:r>
              <a:rPr lang="en-US" sz="1899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Long-term goal: Achieve profitability by Year 3 with increased market penetration.</a:t>
            </a:r>
          </a:p>
          <a:p>
            <a:pPr algn="l">
              <a:lnSpc>
                <a:spcPts val="2659"/>
              </a:lnSpc>
            </a:pPr>
            <a:endParaRPr lang="en-US" sz="1899" b="1" dirty="0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07303" y="5829513"/>
            <a:ext cx="5244609" cy="412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Key Financials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52630" y="6804597"/>
            <a:ext cx="7906670" cy="232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5" lvl="1" indent="-205102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Break-even point:  [ 1year ]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10205" lvl="1" indent="-205102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Projected revenue by Year 1, Year 2, and Year 3.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10205" lvl="1" indent="-205102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Costs: Platform development, marketing, customer support.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79750" y="4546453"/>
            <a:ext cx="1399582" cy="0"/>
          </a:xfrm>
          <a:prstGeom prst="line">
            <a:avLst/>
          </a:prstGeom>
          <a:ln w="28575" cap="rnd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4179750" y="6561685"/>
            <a:ext cx="1399582" cy="0"/>
          </a:xfrm>
          <a:prstGeom prst="line">
            <a:avLst/>
          </a:prstGeom>
          <a:ln w="28575" cap="rnd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4179750" y="8443550"/>
            <a:ext cx="1399582" cy="0"/>
          </a:xfrm>
          <a:prstGeom prst="line">
            <a:avLst/>
          </a:prstGeom>
          <a:ln w="28575" cap="rnd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719343" y="3697978"/>
            <a:ext cx="5156813" cy="5156813"/>
          </a:xfrm>
          <a:custGeom>
            <a:avLst/>
            <a:gdLst/>
            <a:ahLst/>
            <a:cxnLst/>
            <a:rect l="l" t="t" r="r" b="b"/>
            <a:pathLst>
              <a:path w="5156813" h="5156813">
                <a:moveTo>
                  <a:pt x="0" y="0"/>
                </a:moveTo>
                <a:lnTo>
                  <a:pt x="5156813" y="0"/>
                </a:lnTo>
                <a:lnTo>
                  <a:pt x="5156813" y="5156813"/>
                </a:lnTo>
                <a:lnTo>
                  <a:pt x="0" y="5156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68084" y="6343214"/>
            <a:ext cx="1726449" cy="38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 b="1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Why Now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8084" y="8225079"/>
            <a:ext cx="1755785" cy="38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 b="1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Next Steps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0608" y="1838858"/>
            <a:ext cx="15581546" cy="117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4"/>
              </a:lnSpc>
            </a:pPr>
            <a:r>
              <a:rPr lang="en-US" sz="6860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Closing – Why BookMyShoot?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8084" y="4297600"/>
            <a:ext cx="2111666" cy="389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 b="1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Summary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8027" y="3882821"/>
            <a:ext cx="4327902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BookMyShoot offers a scalable solution to a fragmented and inefficient booking process for photo/video professionals.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9332" y="5903562"/>
            <a:ext cx="4327902" cy="124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The demand for digital-first solutions in the event and creative services industry is on the rise. BookMyShoot is poised to capitalize on this growth.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79332" y="7748542"/>
            <a:ext cx="4327902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Looking to partner with investors to help us scale rapidly, enhance our platform, and expand across Sri Lanka and beyond.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4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3400" y="3899312"/>
            <a:ext cx="13059340" cy="248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5"/>
              </a:lnSpc>
            </a:pPr>
            <a:r>
              <a:rPr lang="en-US" sz="14532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9743449" y="8519300"/>
            <a:ext cx="151131" cy="153432"/>
          </a:xfrm>
          <a:custGeom>
            <a:avLst/>
            <a:gdLst/>
            <a:ahLst/>
            <a:cxnLst/>
            <a:rect l="l" t="t" r="r" b="b"/>
            <a:pathLst>
              <a:path w="151131" h="153432">
                <a:moveTo>
                  <a:pt x="0" y="0"/>
                </a:moveTo>
                <a:lnTo>
                  <a:pt x="151131" y="0"/>
                </a:lnTo>
                <a:lnTo>
                  <a:pt x="151131" y="153432"/>
                </a:lnTo>
                <a:lnTo>
                  <a:pt x="0" y="153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021016" y="8549583"/>
            <a:ext cx="156743" cy="156743"/>
          </a:xfrm>
          <a:custGeom>
            <a:avLst/>
            <a:gdLst/>
            <a:ahLst/>
            <a:cxnLst/>
            <a:rect l="l" t="t" r="r" b="b"/>
            <a:pathLst>
              <a:path w="156743" h="156743">
                <a:moveTo>
                  <a:pt x="0" y="0"/>
                </a:moveTo>
                <a:lnTo>
                  <a:pt x="156744" y="0"/>
                </a:lnTo>
                <a:lnTo>
                  <a:pt x="156744" y="156743"/>
                </a:lnTo>
                <a:lnTo>
                  <a:pt x="0" y="156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10152416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1850061" y="793106"/>
            <a:ext cx="697692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700824" y="9556445"/>
            <a:ext cx="1647437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0762353317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00824" y="9229725"/>
            <a:ext cx="2754552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J.Digevan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568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Bold</vt:lpstr>
      <vt:lpstr>Calibri</vt:lpstr>
      <vt:lpstr>Montserrat</vt:lpstr>
      <vt:lpstr>Arial</vt:lpstr>
      <vt:lpstr>Montserrat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Business Pitch Deck Presentation</dc:title>
  <cp:lastModifiedBy>J Digevan</cp:lastModifiedBy>
  <cp:revision>3</cp:revision>
  <dcterms:created xsi:type="dcterms:W3CDTF">2006-08-16T00:00:00Z</dcterms:created>
  <dcterms:modified xsi:type="dcterms:W3CDTF">2025-08-30T08:13:14Z</dcterms:modified>
  <dc:identifier>DAGvR3eZJ0E</dc:identifier>
</cp:coreProperties>
</file>